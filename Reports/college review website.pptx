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311" r:id="rId6"/>
    <p:sldId id="318" r:id="rId7"/>
    <p:sldId id="312" r:id="rId8"/>
    <p:sldId id="313" r:id="rId9"/>
    <p:sldId id="314" r:id="rId10"/>
    <p:sldId id="320" r:id="rId11"/>
    <p:sldId id="321" r:id="rId12"/>
    <p:sldId id="31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309" autoAdjust="0"/>
    <p:restoredTop sz="94619" autoAdjust="0"/>
  </p:normalViewPr>
  <p:slideViewPr>
    <p:cSldViewPr snapToGrid="0">
      <p:cViewPr>
        <p:scale>
          <a:sx n="50" d="100"/>
          <a:sy n="50" d="100"/>
        </p:scale>
        <p:origin x="-1566" y="-50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xmlns=""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xmlns="" id="{9925CCF1-92C0-4AF3-BFAF-4921631915AB}"/>
              </a:ext>
            </a:extLst>
          </p:cNvPr>
          <p:cNvSpPr>
            <a:spLocks noGrp="1"/>
          </p:cNvSpPr>
          <p:nvPr>
            <p:ph type="dt" sz="half" idx="10"/>
          </p:nvPr>
        </p:nvSpPr>
        <p:spPr/>
        <p:txBody>
          <a:bodyPr/>
          <a:lstStyle/>
          <a:p>
            <a:fld id="{9184DA70-C731-4C70-880D-CCD4705E623C}" type="datetime1">
              <a:rPr lang="en-US" smtClean="0"/>
              <a:pPr/>
              <a:t>10/27/2024</a:t>
            </a:fld>
            <a:endParaRPr lang="en-US" dirty="0"/>
          </a:p>
        </p:txBody>
      </p:sp>
      <p:sp>
        <p:nvSpPr>
          <p:cNvPr id="5" name="Footer Placeholder 4">
            <a:extLst>
              <a:ext uri="{FF2B5EF4-FFF2-40B4-BE49-F238E27FC236}">
                <a16:creationId xmlns:a16="http://schemas.microsoft.com/office/drawing/2014/main" xmlns=""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5FAEB271-5CC0-4759-BC6E-8BE53AB227C0}"/>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xmlns="" id="{354D8B55-9EA8-4B81-8E84-9B93B0A27559}"/>
              </a:ext>
            </a:extLst>
          </p:cNvPr>
          <p:cNvSpPr>
            <a:spLocks noGrp="1"/>
          </p:cNvSpPr>
          <p:nvPr>
            <p:ph type="dt" sz="half" idx="10"/>
          </p:nvPr>
        </p:nvSpPr>
        <p:spPr/>
        <p:txBody>
          <a:bodyPr/>
          <a:lstStyle/>
          <a:p>
            <a:fld id="{4BE1D723-8F53-4F53-90B0-1982A396982E}" type="datetime1">
              <a:rPr lang="en-US" smtClean="0"/>
              <a:pPr/>
              <a:t>10/27/2024</a:t>
            </a:fld>
            <a:endParaRPr lang="en-US" dirty="0"/>
          </a:p>
        </p:txBody>
      </p:sp>
      <p:sp>
        <p:nvSpPr>
          <p:cNvPr id="8" name="Footer Placeholder 7">
            <a:extLst>
              <a:ext uri="{FF2B5EF4-FFF2-40B4-BE49-F238E27FC236}">
                <a16:creationId xmlns:a16="http://schemas.microsoft.com/office/drawing/2014/main" xmlns=""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C4AAB51D-4141-4682-9375-DAFD5FB9DD10}"/>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xmlns=""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xmlns="" id="{AAF2E137-EC28-48F8-9198-1F02539029B6}"/>
              </a:ext>
            </a:extLst>
          </p:cNvPr>
          <p:cNvSpPr>
            <a:spLocks noGrp="1"/>
          </p:cNvSpPr>
          <p:nvPr>
            <p:ph type="dt" sz="half" idx="10"/>
          </p:nvPr>
        </p:nvSpPr>
        <p:spPr/>
        <p:txBody>
          <a:bodyPr/>
          <a:lstStyle/>
          <a:p>
            <a:fld id="{97669AF7-7BEB-44E4-9852-375E34362B5B}" type="datetime1">
              <a:rPr lang="en-US" smtClean="0"/>
              <a:pPr/>
              <a:t>10/27/2024</a:t>
            </a:fld>
            <a:endParaRPr lang="en-US" dirty="0"/>
          </a:p>
        </p:txBody>
      </p:sp>
      <p:sp>
        <p:nvSpPr>
          <p:cNvPr id="8" name="Footer Placeholder 7">
            <a:extLst>
              <a:ext uri="{FF2B5EF4-FFF2-40B4-BE49-F238E27FC236}">
                <a16:creationId xmlns:a16="http://schemas.microsoft.com/office/drawing/2014/main" xmlns=""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xmlns="" id="{69C6AFF8-42B4-4D05-969B-9F5FB3355555}"/>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xmlns="" id="{5782D47D-B0DC-4C40-BCC6-BBBA32584A38}"/>
              </a:ext>
            </a:extLst>
          </p:cNvPr>
          <p:cNvSpPr>
            <a:spLocks noGrp="1"/>
          </p:cNvSpPr>
          <p:nvPr>
            <p:ph type="dt" sz="half" idx="10"/>
          </p:nvPr>
        </p:nvSpPr>
        <p:spPr/>
        <p:txBody>
          <a:bodyPr/>
          <a:lstStyle/>
          <a:p>
            <a:fld id="{BAAAC38D-0552-4C82-B593-E6124DFADBE2}" type="datetime1">
              <a:rPr lang="en-US" smtClean="0"/>
              <a:pPr/>
              <a:t>10/27/2024</a:t>
            </a:fld>
            <a:endParaRPr lang="en-US" dirty="0"/>
          </a:p>
        </p:txBody>
      </p:sp>
      <p:sp>
        <p:nvSpPr>
          <p:cNvPr id="9" name="Footer Placeholder 8">
            <a:extLst>
              <a:ext uri="{FF2B5EF4-FFF2-40B4-BE49-F238E27FC236}">
                <a16:creationId xmlns:a16="http://schemas.microsoft.com/office/drawing/2014/main" xmlns=""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2AC511A1-9BBD-42DE-92FB-2AF44F8E97A9}"/>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xmlns="" id="{8AF8A515-AA94-45D1-9223-5C2272618D85}"/>
              </a:ext>
            </a:extLst>
          </p:cNvPr>
          <p:cNvSpPr>
            <a:spLocks noGrp="1"/>
          </p:cNvSpPr>
          <p:nvPr>
            <p:ph type="dt" sz="half" idx="10"/>
          </p:nvPr>
        </p:nvSpPr>
        <p:spPr/>
        <p:txBody>
          <a:bodyPr/>
          <a:lstStyle/>
          <a:p>
            <a:fld id="{D9DF0F1C-5577-4ACB-BB62-DF8F3C494C7E}" type="datetime1">
              <a:rPr lang="en-US" smtClean="0"/>
              <a:pPr/>
              <a:t>10/27/2024</a:t>
            </a:fld>
            <a:endParaRPr lang="en-US" dirty="0"/>
          </a:p>
        </p:txBody>
      </p:sp>
      <p:sp>
        <p:nvSpPr>
          <p:cNvPr id="11" name="Footer Placeholder 10">
            <a:extLst>
              <a:ext uri="{FF2B5EF4-FFF2-40B4-BE49-F238E27FC236}">
                <a16:creationId xmlns:a16="http://schemas.microsoft.com/office/drawing/2014/main" xmlns=""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xmlns="" id="{A38552DC-952E-41EA-AAAF-C2187523C0B0}"/>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xmlns="" id="{7392073F-158F-44A3-8913-917AFFC1BC20}"/>
              </a:ext>
            </a:extLst>
          </p:cNvPr>
          <p:cNvSpPr>
            <a:spLocks noGrp="1"/>
          </p:cNvSpPr>
          <p:nvPr>
            <p:ph type="dt" sz="half" idx="10"/>
          </p:nvPr>
        </p:nvSpPr>
        <p:spPr/>
        <p:txBody>
          <a:bodyPr/>
          <a:lstStyle/>
          <a:p>
            <a:fld id="{1775B394-D9F9-4F0C-B15D-605F45CB9E9F}" type="datetime1">
              <a:rPr lang="en-US" smtClean="0"/>
              <a:pPr/>
              <a:t>10/27/2024</a:t>
            </a:fld>
            <a:endParaRPr lang="en-US" dirty="0"/>
          </a:p>
        </p:txBody>
      </p:sp>
      <p:sp>
        <p:nvSpPr>
          <p:cNvPr id="7" name="Footer Placeholder 6">
            <a:extLst>
              <a:ext uri="{FF2B5EF4-FFF2-40B4-BE49-F238E27FC236}">
                <a16:creationId xmlns:a16="http://schemas.microsoft.com/office/drawing/2014/main" xmlns=""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xmlns="" id="{D01080F2-251A-4B88-9A62-16F46D724F83}"/>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xmlns="" id="{94E9223F-721F-47BF-9FD5-0F8D12FF0DE1}"/>
              </a:ext>
            </a:extLst>
          </p:cNvPr>
          <p:cNvSpPr>
            <a:spLocks noGrp="1"/>
          </p:cNvSpPr>
          <p:nvPr>
            <p:ph type="dt" sz="half" idx="10"/>
          </p:nvPr>
        </p:nvSpPr>
        <p:spPr/>
        <p:txBody>
          <a:bodyPr/>
          <a:lstStyle/>
          <a:p>
            <a:fld id="{39667345-2558-425A-8533-9BFDBCE15005}" type="datetime1">
              <a:rPr lang="en-US" smtClean="0"/>
              <a:pPr/>
              <a:t>10/27/2024</a:t>
            </a:fld>
            <a:endParaRPr lang="en-US" dirty="0"/>
          </a:p>
        </p:txBody>
      </p:sp>
      <p:sp>
        <p:nvSpPr>
          <p:cNvPr id="3" name="Footer Placeholder 2">
            <a:extLst>
              <a:ext uri="{FF2B5EF4-FFF2-40B4-BE49-F238E27FC236}">
                <a16:creationId xmlns:a16="http://schemas.microsoft.com/office/drawing/2014/main" xmlns=""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BE06F857-D2E1-44DD-ABDD-EBB739645B67}"/>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pPr/>
              <a:t>10/27/2024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pPr/>
              <a:t>10/27/2024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pPr/>
              <a:t>10/27/2024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pPr/>
              <a:t>‹#›</a:t>
            </a:fld>
            <a:endParaRPr lang="en-US" dirty="0"/>
          </a:p>
        </p:txBody>
      </p:sp>
      <p:cxnSp>
        <p:nvCxnSpPr>
          <p:cNvPr id="10" name="Straight Connector 9">
            <a:extLst>
              <a:ext uri="{FF2B5EF4-FFF2-40B4-BE49-F238E27FC236}">
                <a16:creationId xmlns:a16="http://schemas.microsoft.com/office/drawing/2014/main" xmlns=""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xmlns="" id="{A9286AD2-18A9-4868-A4E3-7A2097A2081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xmlns="" id="{4010AF38-26DF-48B3-952C-4A9091D6863C}"/>
              </a:ext>
            </a:extLst>
          </p:cNvPr>
          <p:cNvSpPr>
            <a:spLocks noGrp="1"/>
          </p:cNvSpPr>
          <p:nvPr>
            <p:ph type="ctrTitle"/>
          </p:nvPr>
        </p:nvSpPr>
        <p:spPr>
          <a:xfrm>
            <a:off x="648929" y="639098"/>
            <a:ext cx="11030453" cy="2658284"/>
          </a:xfrm>
        </p:spPr>
        <p:txBody>
          <a:bodyPr>
            <a:normAutofit/>
          </a:bodyPr>
          <a:lstStyle/>
          <a:p>
            <a:pPr algn="ctr"/>
            <a:r>
              <a:rPr lang="en-IN" sz="6600" spc="300" dirty="0" smtClean="0"/>
              <a:t>COLLEGE REVIEW WEBSITE </a:t>
            </a:r>
            <a:endParaRPr lang="en-US" sz="6600" spc="300" dirty="0"/>
          </a:p>
        </p:txBody>
      </p:sp>
      <p:sp>
        <p:nvSpPr>
          <p:cNvPr id="3" name="Subtitle 2">
            <a:extLst>
              <a:ext uri="{FF2B5EF4-FFF2-40B4-BE49-F238E27FC236}">
                <a16:creationId xmlns:a16="http://schemas.microsoft.com/office/drawing/2014/main" xmlns="" id="{37FC2D8F-56D2-4ADF-B439-0E09E7C37894}"/>
              </a:ext>
            </a:extLst>
          </p:cNvPr>
          <p:cNvSpPr>
            <a:spLocks noGrp="1"/>
          </p:cNvSpPr>
          <p:nvPr>
            <p:ph type="subTitle" idx="1"/>
          </p:nvPr>
        </p:nvSpPr>
        <p:spPr>
          <a:xfrm>
            <a:off x="632899" y="4672739"/>
            <a:ext cx="6269347" cy="1021498"/>
          </a:xfrm>
        </p:spPr>
        <p:txBody>
          <a:bodyPr>
            <a:normAutofit/>
          </a:bodyPr>
          <a:lstStyle/>
          <a:p>
            <a:r>
              <a:rPr lang="en-US" spc="300" dirty="0" smtClean="0">
                <a:solidFill>
                  <a:schemeClr val="accent1"/>
                </a:solidFill>
              </a:rPr>
              <a:t>By BARATH</a:t>
            </a:r>
            <a:endParaRPr lang="en-US" sz="2400" spc="300" dirty="0">
              <a:solidFill>
                <a:schemeClr val="accent1"/>
              </a:solidFill>
            </a:endParaRPr>
          </a:p>
        </p:txBody>
      </p:sp>
      <p:cxnSp>
        <p:nvCxnSpPr>
          <p:cNvPr id="29" name="Straight Connector 28">
            <a:extLst>
              <a:ext uri="{FF2B5EF4-FFF2-40B4-BE49-F238E27FC236}">
                <a16:creationId xmlns:a16="http://schemas.microsoft.com/office/drawing/2014/main" xmlns="" id="{E7A7CD63-7EC3-44F3-95D0-595C4019FF2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744179" y="4498925"/>
            <a:ext cx="563610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9127473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B5E210F-FB1B-026C-35CA-4523371CDA15}"/>
              </a:ext>
            </a:extLst>
          </p:cNvPr>
          <p:cNvSpPr txBox="1"/>
          <p:nvPr/>
        </p:nvSpPr>
        <p:spPr>
          <a:xfrm>
            <a:off x="1028700" y="1236092"/>
            <a:ext cx="10420350" cy="3970318"/>
          </a:xfrm>
          <a:prstGeom prst="rect">
            <a:avLst/>
          </a:prstGeom>
          <a:noFill/>
        </p:spPr>
        <p:txBody>
          <a:bodyPr wrap="square" rtlCol="0">
            <a:spAutoFit/>
          </a:bodyPr>
          <a:lstStyle/>
          <a:p>
            <a:endParaRPr lang="en-CA" dirty="0"/>
          </a:p>
          <a:p>
            <a:pPr algn="just">
              <a:lnSpc>
                <a:spcPct val="150000"/>
              </a:lnSpc>
            </a:pPr>
            <a:r>
              <a:rPr lang="en-US" dirty="0" smtClean="0"/>
              <a:t>The College Review Website is designed to provide students with a comprehensive platform for accessing college information, educational blogs, and course details. Aimed at helping prospective students make informed academic choices, the website combines a user-friendly interface with mobile and desktop accessibility. Key features include detailed college reviews, regularly updated educational content, and easy navigation. This project offers a valuable resource for students exploring their academic and career options.</a:t>
            </a:r>
          </a:p>
          <a:p>
            <a:pPr algn="just">
              <a:lnSpc>
                <a:spcPct val="150000"/>
              </a:lnSpc>
            </a:pPr>
            <a:r>
              <a:rPr lang="en-US" b="1" dirty="0" smtClean="0"/>
              <a:t>Keywords:</a:t>
            </a:r>
            <a:r>
              <a:rPr lang="en-US" dirty="0" smtClean="0"/>
              <a:t> College Review, Educational Blogs, Course Details, Academic Choices, Student Resources, User-Friendly Design, Mobile Accessibility</a:t>
            </a:r>
          </a:p>
          <a:p>
            <a:endParaRPr lang="en-CA" dirty="0"/>
          </a:p>
        </p:txBody>
      </p:sp>
      <p:sp>
        <p:nvSpPr>
          <p:cNvPr id="3" name="TextBox 2">
            <a:extLst>
              <a:ext uri="{FF2B5EF4-FFF2-40B4-BE49-F238E27FC236}">
                <a16:creationId xmlns:a16="http://schemas.microsoft.com/office/drawing/2014/main" xmlns="" id="{B8C8691D-13B5-0335-5CA7-BA558CC1361F}"/>
              </a:ext>
            </a:extLst>
          </p:cNvPr>
          <p:cNvSpPr txBox="1"/>
          <p:nvPr/>
        </p:nvSpPr>
        <p:spPr>
          <a:xfrm>
            <a:off x="3043003" y="299803"/>
            <a:ext cx="6370820" cy="830997"/>
          </a:xfrm>
          <a:prstGeom prst="rect">
            <a:avLst/>
          </a:prstGeom>
          <a:noFill/>
        </p:spPr>
        <p:txBody>
          <a:bodyPr wrap="square" rtlCol="0">
            <a:spAutoFit/>
          </a:bodyPr>
          <a:lstStyle/>
          <a:p>
            <a:r>
              <a:rPr lang="en-CA" sz="4800" dirty="0"/>
              <a:t>          </a:t>
            </a:r>
            <a:r>
              <a:rPr lang="en-CA" sz="4800" b="1" dirty="0" smtClean="0">
                <a:solidFill>
                  <a:schemeClr val="accent1"/>
                </a:solidFill>
              </a:rPr>
              <a:t>Abstract</a:t>
            </a:r>
            <a:endParaRPr lang="en-CA" sz="4800" b="1" dirty="0">
              <a:solidFill>
                <a:schemeClr val="accent1"/>
              </a:solidFill>
            </a:endParaRPr>
          </a:p>
        </p:txBody>
      </p:sp>
      <p:cxnSp>
        <p:nvCxnSpPr>
          <p:cNvPr id="4" name="Straight Connector 3">
            <a:extLst>
              <a:ext uri="{FF2B5EF4-FFF2-40B4-BE49-F238E27FC236}">
                <a16:creationId xmlns:a16="http://schemas.microsoft.com/office/drawing/2014/main" xmlns="" id="{A4EEE84A-DA91-DB5A-49C2-A43FFBF34FC2}"/>
              </a:ext>
            </a:extLst>
          </p:cNvPr>
          <p:cNvCxnSpPr/>
          <p:nvPr/>
        </p:nvCxnSpPr>
        <p:spPr>
          <a:xfrm>
            <a:off x="2789959" y="1205959"/>
            <a:ext cx="6686550" cy="0"/>
          </a:xfrm>
          <a:prstGeom prst="line">
            <a:avLst/>
          </a:prstGeom>
          <a:ln>
            <a:solidFill>
              <a:schemeClr val="accent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xmlns="" val="764789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B5E210F-FB1B-026C-35CA-4523371CDA15}"/>
              </a:ext>
            </a:extLst>
          </p:cNvPr>
          <p:cNvSpPr txBox="1"/>
          <p:nvPr/>
        </p:nvSpPr>
        <p:spPr>
          <a:xfrm>
            <a:off x="1028700" y="1236092"/>
            <a:ext cx="10420350" cy="3970318"/>
          </a:xfrm>
          <a:prstGeom prst="rect">
            <a:avLst/>
          </a:prstGeom>
          <a:noFill/>
        </p:spPr>
        <p:txBody>
          <a:bodyPr wrap="square" rtlCol="0">
            <a:spAutoFit/>
          </a:bodyPr>
          <a:lstStyle/>
          <a:p>
            <a:endParaRPr lang="en-CA" dirty="0"/>
          </a:p>
          <a:p>
            <a:pPr algn="just">
              <a:lnSpc>
                <a:spcPct val="150000"/>
              </a:lnSpc>
            </a:pPr>
            <a:r>
              <a:rPr lang="en-US" dirty="0" smtClean="0"/>
              <a:t>The College Review Website is an informative platform developed to support prospective students in making well-informed decisions about their academic futures. It provides a centralized resource where students can access comprehensive details about colleges, including facilities, locations, and academic programs. Additionally, the site features educational blogs that cover a range of topics, from study tips to career advice, and a dedicated section for course details, giving users an in-depth look at available educational pathways. Designed for accessibility on both mobile and desktop devices, the website aims to create a seamless and user-friendly experience, empowering students with relevant and reliable information as they navigate their educational journeys</a:t>
            </a:r>
            <a:r>
              <a:rPr lang="en-US" dirty="0" smtClean="0"/>
              <a:t>.</a:t>
            </a:r>
            <a:endParaRPr lang="en-US" dirty="0"/>
          </a:p>
          <a:p>
            <a:endParaRPr lang="en-CA" dirty="0"/>
          </a:p>
        </p:txBody>
      </p:sp>
      <p:sp>
        <p:nvSpPr>
          <p:cNvPr id="3" name="TextBox 2">
            <a:extLst>
              <a:ext uri="{FF2B5EF4-FFF2-40B4-BE49-F238E27FC236}">
                <a16:creationId xmlns:a16="http://schemas.microsoft.com/office/drawing/2014/main" xmlns="" id="{B8C8691D-13B5-0335-5CA7-BA558CC1361F}"/>
              </a:ext>
            </a:extLst>
          </p:cNvPr>
          <p:cNvSpPr txBox="1"/>
          <p:nvPr/>
        </p:nvSpPr>
        <p:spPr>
          <a:xfrm>
            <a:off x="3043003" y="299803"/>
            <a:ext cx="6370820" cy="830997"/>
          </a:xfrm>
          <a:prstGeom prst="rect">
            <a:avLst/>
          </a:prstGeom>
          <a:noFill/>
        </p:spPr>
        <p:txBody>
          <a:bodyPr wrap="square" rtlCol="0">
            <a:spAutoFit/>
          </a:bodyPr>
          <a:lstStyle/>
          <a:p>
            <a:r>
              <a:rPr lang="en-CA" sz="4800" dirty="0"/>
              <a:t>          </a:t>
            </a:r>
            <a:r>
              <a:rPr lang="en-CA" sz="4800" b="1" dirty="0">
                <a:solidFill>
                  <a:schemeClr val="accent1"/>
                </a:solidFill>
              </a:rPr>
              <a:t>Introduction</a:t>
            </a:r>
          </a:p>
        </p:txBody>
      </p:sp>
      <p:cxnSp>
        <p:nvCxnSpPr>
          <p:cNvPr id="4" name="Straight Connector 3">
            <a:extLst>
              <a:ext uri="{FF2B5EF4-FFF2-40B4-BE49-F238E27FC236}">
                <a16:creationId xmlns:a16="http://schemas.microsoft.com/office/drawing/2014/main" xmlns="" id="{A4EEE84A-DA91-DB5A-49C2-A43FFBF34FC2}"/>
              </a:ext>
            </a:extLst>
          </p:cNvPr>
          <p:cNvCxnSpPr/>
          <p:nvPr/>
        </p:nvCxnSpPr>
        <p:spPr>
          <a:xfrm>
            <a:off x="2789959" y="1205959"/>
            <a:ext cx="6686550" cy="0"/>
          </a:xfrm>
          <a:prstGeom prst="line">
            <a:avLst/>
          </a:prstGeom>
          <a:ln>
            <a:solidFill>
              <a:schemeClr val="accent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xmlns="" val="764789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xmlns="" id="{77EA34F1-0B6D-E50F-0EA7-95E56380169E}"/>
              </a:ext>
            </a:extLst>
          </p:cNvPr>
          <p:cNvCxnSpPr/>
          <p:nvPr/>
        </p:nvCxnSpPr>
        <p:spPr>
          <a:xfrm>
            <a:off x="725434" y="1016378"/>
            <a:ext cx="1101777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61DD2A1C-2477-1A26-2C82-4EA84FE2A516}"/>
              </a:ext>
            </a:extLst>
          </p:cNvPr>
          <p:cNvSpPr txBox="1"/>
          <p:nvPr/>
        </p:nvSpPr>
        <p:spPr>
          <a:xfrm>
            <a:off x="346363" y="1224197"/>
            <a:ext cx="11499273" cy="4939814"/>
          </a:xfrm>
          <a:prstGeom prst="rect">
            <a:avLst/>
          </a:prstGeom>
          <a:noFill/>
        </p:spPr>
        <p:txBody>
          <a:bodyPr wrap="square" rtlCol="0">
            <a:spAutoFit/>
          </a:bodyPr>
          <a:lstStyle/>
          <a:p>
            <a:pPr marL="342900" indent="-342900">
              <a:lnSpc>
                <a:spcPct val="150000"/>
              </a:lnSpc>
              <a:buFont typeface="+mj-lt"/>
              <a:buAutoNum type="arabicPeriod"/>
            </a:pPr>
            <a:r>
              <a:rPr lang="en-US" b="1" dirty="0" smtClean="0"/>
              <a:t>Comprehensive College Information</a:t>
            </a:r>
            <a:r>
              <a:rPr lang="en-US" dirty="0" smtClean="0"/>
              <a:t>: Provides details on various colleges, including location, facilities, and academic programs, helping students compare and make informed decisions</a:t>
            </a:r>
            <a:r>
              <a:rPr lang="en-US" dirty="0" smtClean="0"/>
              <a:t>.</a:t>
            </a:r>
          </a:p>
          <a:p>
            <a:pPr marL="342900" indent="-342900">
              <a:lnSpc>
                <a:spcPct val="150000"/>
              </a:lnSpc>
              <a:buFont typeface="+mj-lt"/>
              <a:buAutoNum type="arabicPeriod"/>
            </a:pPr>
            <a:r>
              <a:rPr lang="en-US" b="1" dirty="0" smtClean="0"/>
              <a:t>Student Review Section</a:t>
            </a:r>
            <a:r>
              <a:rPr lang="en-US" dirty="0" smtClean="0"/>
              <a:t>: Allows students to submit reviews and rate colleges based on their experiences, helping future users make informed choices based on peer feedback.</a:t>
            </a:r>
            <a:endParaRPr lang="en-US" dirty="0" smtClean="0"/>
          </a:p>
          <a:p>
            <a:pPr marL="342900" indent="-342900">
              <a:lnSpc>
                <a:spcPct val="150000"/>
              </a:lnSpc>
              <a:buFont typeface="+mj-lt"/>
              <a:buAutoNum type="arabicPeriod"/>
            </a:pPr>
            <a:r>
              <a:rPr lang="en-US" b="1" dirty="0" smtClean="0"/>
              <a:t>Course Details</a:t>
            </a:r>
            <a:r>
              <a:rPr lang="en-US" dirty="0" smtClean="0"/>
              <a:t>: Detailed information on available courses across different fields, including prerequisites, duration, and curriculum highlights.</a:t>
            </a:r>
          </a:p>
          <a:p>
            <a:pPr marL="342900" indent="-342900">
              <a:lnSpc>
                <a:spcPct val="150000"/>
              </a:lnSpc>
              <a:buFont typeface="+mj-lt"/>
              <a:buAutoNum type="arabicPeriod"/>
            </a:pPr>
            <a:r>
              <a:rPr lang="en-US" b="1" dirty="0" smtClean="0"/>
              <a:t>User-Friendly </a:t>
            </a:r>
            <a:r>
              <a:rPr lang="en-US" b="1" dirty="0" smtClean="0"/>
              <a:t>Interface</a:t>
            </a:r>
            <a:r>
              <a:rPr lang="en-US" dirty="0" smtClean="0"/>
              <a:t>: Designed with intuitive navigation to ensure ease of use, allowing users to quickly access information</a:t>
            </a:r>
            <a:r>
              <a:rPr lang="en-US" dirty="0" smtClean="0"/>
              <a:t>.</a:t>
            </a:r>
          </a:p>
          <a:p>
            <a:pPr marL="342900" indent="-342900">
              <a:lnSpc>
                <a:spcPct val="150000"/>
              </a:lnSpc>
              <a:buFont typeface="+mj-lt"/>
              <a:buAutoNum type="arabicPeriod"/>
            </a:pPr>
            <a:r>
              <a:rPr lang="en-US" b="1" dirty="0" smtClean="0"/>
              <a:t>Mobile and Desktop Accessibility</a:t>
            </a:r>
            <a:r>
              <a:rPr lang="en-US" dirty="0" smtClean="0"/>
              <a:t>: Optimized to work seamlessly on both mobile and desktop devices, offering flexibility in access.</a:t>
            </a:r>
            <a:endParaRPr lang="en-US" dirty="0" smtClean="0"/>
          </a:p>
          <a:p>
            <a:pPr marL="342900" indent="-342900">
              <a:lnSpc>
                <a:spcPct val="150000"/>
              </a:lnSpc>
              <a:buFont typeface="+mj-lt"/>
              <a:buAutoNum type="arabicPeriod"/>
            </a:pPr>
            <a:r>
              <a:rPr lang="en-US" b="1" dirty="0" smtClean="0"/>
              <a:t>Web </a:t>
            </a:r>
            <a:r>
              <a:rPr lang="en-US" b="1" dirty="0" smtClean="0"/>
              <a:t>Hosting on </a:t>
            </a:r>
            <a:r>
              <a:rPr lang="en-US" b="1" dirty="0" err="1" smtClean="0"/>
              <a:t>InfinityFree</a:t>
            </a:r>
            <a:r>
              <a:rPr lang="en-US" dirty="0" smtClean="0"/>
              <a:t>: Hosted on the </a:t>
            </a:r>
            <a:r>
              <a:rPr lang="en-US" dirty="0" err="1" smtClean="0"/>
              <a:t>InfinityFree</a:t>
            </a:r>
            <a:r>
              <a:rPr lang="en-US" dirty="0" smtClean="0"/>
              <a:t> platform for free, ensuring easy access and availability.</a:t>
            </a:r>
          </a:p>
          <a:p>
            <a:endParaRPr lang="en-CA" dirty="0"/>
          </a:p>
        </p:txBody>
      </p:sp>
      <p:sp>
        <p:nvSpPr>
          <p:cNvPr id="7" name="TextBox 6">
            <a:extLst>
              <a:ext uri="{FF2B5EF4-FFF2-40B4-BE49-F238E27FC236}">
                <a16:creationId xmlns:a16="http://schemas.microsoft.com/office/drawing/2014/main" xmlns="" id="{084A22E1-1C3B-A690-13DB-809FB20BA9C3}"/>
              </a:ext>
            </a:extLst>
          </p:cNvPr>
          <p:cNvSpPr txBox="1"/>
          <p:nvPr/>
        </p:nvSpPr>
        <p:spPr>
          <a:xfrm>
            <a:off x="2782491" y="305183"/>
            <a:ext cx="6820525" cy="923330"/>
          </a:xfrm>
          <a:prstGeom prst="rect">
            <a:avLst/>
          </a:prstGeom>
          <a:noFill/>
        </p:spPr>
        <p:txBody>
          <a:bodyPr wrap="square" rtlCol="0">
            <a:spAutoFit/>
          </a:bodyPr>
          <a:lstStyle/>
          <a:p>
            <a:r>
              <a:rPr lang="en-US" sz="3600" b="1" dirty="0"/>
              <a:t>              </a:t>
            </a:r>
            <a:r>
              <a:rPr lang="en-US" sz="3600" b="1" dirty="0" smtClean="0"/>
              <a:t> </a:t>
            </a:r>
            <a:r>
              <a:rPr lang="en-US" sz="3600" b="1" dirty="0">
                <a:solidFill>
                  <a:schemeClr val="accent1"/>
                </a:solidFill>
              </a:rPr>
              <a:t>Key Features</a:t>
            </a:r>
          </a:p>
          <a:p>
            <a:endParaRPr lang="en-CA" dirty="0"/>
          </a:p>
        </p:txBody>
      </p:sp>
    </p:spTree>
    <p:extLst>
      <p:ext uri="{BB962C8B-B14F-4D97-AF65-F5344CB8AC3E}">
        <p14:creationId xmlns:p14="http://schemas.microsoft.com/office/powerpoint/2010/main" xmlns="" val="17663080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890003F-DEE9-ED3E-E17B-225DA50444A9}"/>
              </a:ext>
            </a:extLst>
          </p:cNvPr>
          <p:cNvSpPr txBox="1"/>
          <p:nvPr/>
        </p:nvSpPr>
        <p:spPr>
          <a:xfrm>
            <a:off x="569626" y="614597"/>
            <a:ext cx="11152682" cy="5816183"/>
          </a:xfrm>
          <a:prstGeom prst="rect">
            <a:avLst/>
          </a:prstGeom>
          <a:noFill/>
        </p:spPr>
        <p:txBody>
          <a:bodyPr wrap="square" rtlCol="0">
            <a:spAutoFit/>
          </a:bodyPr>
          <a:lstStyle/>
          <a:p>
            <a:endParaRPr lang="en-CA" dirty="0"/>
          </a:p>
        </p:txBody>
      </p:sp>
      <p:sp>
        <p:nvSpPr>
          <p:cNvPr id="3" name="Rectangle 1">
            <a:extLst>
              <a:ext uri="{FF2B5EF4-FFF2-40B4-BE49-F238E27FC236}">
                <a16:creationId xmlns:a16="http://schemas.microsoft.com/office/drawing/2014/main" xmlns="" id="{1B445F3E-C4FF-58FE-725C-C9D98F866171}"/>
              </a:ext>
            </a:extLst>
          </p:cNvPr>
          <p:cNvSpPr>
            <a:spLocks noChangeArrowheads="1"/>
          </p:cNvSpPr>
          <p:nvPr/>
        </p:nvSpPr>
        <p:spPr bwMode="auto">
          <a:xfrm>
            <a:off x="1" y="-6481795"/>
            <a:ext cx="12191999" cy="122187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endParaRPr lang="en-IN" altLang="en-US" sz="1600" b="1" dirty="0" smtClean="0">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lang="en-IN" altLang="en-US" sz="1600" b="1" dirty="0" smtClean="0">
              <a:latin typeface="Arial" panose="020B0604020202020204" pitchFamily="34" charset="0"/>
            </a:endParaRPr>
          </a:p>
          <a:p>
            <a:pPr lvl="1">
              <a:lnSpc>
                <a:spcPct val="200000"/>
              </a:lnSpc>
              <a:buFont typeface="Wingdings" pitchFamily="2" charset="2"/>
              <a:buChar char="Ø"/>
            </a:pPr>
            <a:r>
              <a:rPr lang="en-US" b="1" dirty="0" smtClean="0"/>
              <a:t>College </a:t>
            </a:r>
            <a:r>
              <a:rPr lang="en-US" b="1" dirty="0" smtClean="0"/>
              <a:t>Information</a:t>
            </a:r>
            <a:r>
              <a:rPr lang="en-US" dirty="0" smtClean="0"/>
              <a:t>: Provides detailed profiles on colleges, including location, programs, facilities, and ratings.</a:t>
            </a:r>
          </a:p>
          <a:p>
            <a:pPr lvl="1">
              <a:lnSpc>
                <a:spcPct val="200000"/>
              </a:lnSpc>
              <a:buFont typeface="Wingdings" pitchFamily="2" charset="2"/>
              <a:buChar char="Ø"/>
            </a:pPr>
            <a:r>
              <a:rPr lang="en-US" b="1" dirty="0" smtClean="0"/>
              <a:t>Blog Section</a:t>
            </a:r>
            <a:r>
              <a:rPr lang="en-US" dirty="0" smtClean="0"/>
              <a:t>: Features educational articles on study tips, career advice, and college guidance.</a:t>
            </a:r>
          </a:p>
          <a:p>
            <a:pPr lvl="1">
              <a:lnSpc>
                <a:spcPct val="200000"/>
              </a:lnSpc>
              <a:buFont typeface="Wingdings" pitchFamily="2" charset="2"/>
              <a:buChar char="Ø"/>
            </a:pPr>
            <a:r>
              <a:rPr lang="en-US" b="1" dirty="0" smtClean="0"/>
              <a:t>Courses Information</a:t>
            </a:r>
            <a:r>
              <a:rPr lang="en-US" dirty="0" smtClean="0"/>
              <a:t>: Lists detailed course information, including prerequisites, structure, and career pathways.</a:t>
            </a:r>
          </a:p>
          <a:p>
            <a:pPr lvl="1">
              <a:lnSpc>
                <a:spcPct val="200000"/>
              </a:lnSpc>
              <a:buFont typeface="Wingdings" pitchFamily="2" charset="2"/>
              <a:buChar char="Ø"/>
            </a:pPr>
            <a:r>
              <a:rPr lang="en-US" b="1" dirty="0" smtClean="0"/>
              <a:t>Easy Menu</a:t>
            </a:r>
            <a:r>
              <a:rPr lang="en-US" dirty="0" smtClean="0"/>
              <a:t>: Provides a simple menu that lets users quickly find and access different parts of the website, like Colleges, Blogs, Courses, Reviews, and Contact info</a:t>
            </a:r>
            <a:r>
              <a:rPr lang="en-US" dirty="0" smtClean="0"/>
              <a:t>.</a:t>
            </a:r>
            <a:endParaRPr lang="en-US" dirty="0" smtClean="0"/>
          </a:p>
          <a:p>
            <a:pPr lvl="1">
              <a:lnSpc>
                <a:spcPct val="200000"/>
              </a:lnSpc>
              <a:buFont typeface="Wingdings" pitchFamily="2" charset="2"/>
              <a:buChar char="Ø"/>
            </a:pPr>
            <a:r>
              <a:rPr lang="en-US" b="1" dirty="0" smtClean="0"/>
              <a:t>Reviews &amp; Contact</a:t>
            </a:r>
            <a:r>
              <a:rPr lang="en-US" dirty="0" smtClean="0"/>
              <a:t>: Lets students leave reviews and ratings on colleges and includes a contact form for inquiries.</a:t>
            </a:r>
          </a:p>
          <a:p>
            <a:pPr lvl="1">
              <a:lnSpc>
                <a:spcPct val="200000"/>
              </a:lnSpc>
              <a:buFont typeface="Wingdings" pitchFamily="2" charset="2"/>
              <a:buChar char="Ø"/>
            </a:pPr>
            <a:r>
              <a:rPr lang="en-US" b="1" dirty="0" smtClean="0"/>
              <a:t>Responsive Design</a:t>
            </a:r>
            <a:r>
              <a:rPr lang="en-US" dirty="0" smtClean="0"/>
              <a:t>: Ensures a consistent experience across mobile and desktop devices</a:t>
            </a:r>
            <a:r>
              <a:rPr lang="en-US" sz="1600" dirty="0" smtClean="0"/>
              <a:t>.</a:t>
            </a:r>
          </a:p>
          <a:p>
            <a:pPr marL="0" marR="0" lvl="0" indent="0" algn="l" defTabSz="914400" rtl="0" eaLnBrk="0" fontAlgn="base" latinLnBrk="0" hangingPunct="0">
              <a:lnSpc>
                <a:spcPct val="150000"/>
              </a:lnSpc>
              <a:spcBef>
                <a:spcPct val="0"/>
              </a:spcBef>
              <a:spcAft>
                <a:spcPct val="0"/>
              </a:spcAft>
              <a:buClrTx/>
              <a:buSzTx/>
              <a:tabLst/>
            </a:pPr>
            <a:endParaRPr lang="en-US" altLang="en-US" sz="1600" b="1" dirty="0">
              <a:latin typeface="Arial" panose="020B0604020202020204" pitchFamily="34" charset="0"/>
            </a:endParaRPr>
          </a:p>
        </p:txBody>
      </p:sp>
      <p:sp>
        <p:nvSpPr>
          <p:cNvPr id="4" name="TextBox 3">
            <a:extLst>
              <a:ext uri="{FF2B5EF4-FFF2-40B4-BE49-F238E27FC236}">
                <a16:creationId xmlns:a16="http://schemas.microsoft.com/office/drawing/2014/main" xmlns="" id="{1E029776-B215-F037-33A5-97C2179E1B5F}"/>
              </a:ext>
            </a:extLst>
          </p:cNvPr>
          <p:cNvSpPr txBox="1"/>
          <p:nvPr/>
        </p:nvSpPr>
        <p:spPr>
          <a:xfrm>
            <a:off x="4011033" y="342650"/>
            <a:ext cx="6705600" cy="584775"/>
          </a:xfrm>
          <a:prstGeom prst="rect">
            <a:avLst/>
          </a:prstGeom>
          <a:noFill/>
        </p:spPr>
        <p:txBody>
          <a:bodyPr wrap="square" rtlCol="0">
            <a:spAutoFit/>
          </a:bodyPr>
          <a:lstStyle/>
          <a:p>
            <a:r>
              <a:rPr lang="en-CA" sz="3200" b="1" dirty="0">
                <a:solidFill>
                  <a:schemeClr val="accent1"/>
                </a:solidFill>
                <a:cs typeface="Times New Roman" panose="02020603050405020304" pitchFamily="18" charset="0"/>
              </a:rPr>
              <a:t>Modules</a:t>
            </a:r>
            <a:r>
              <a:rPr lang="en-CA" b="1" dirty="0">
                <a:solidFill>
                  <a:schemeClr val="accent1"/>
                </a:solidFill>
                <a:cs typeface="Times New Roman" panose="02020603050405020304" pitchFamily="18" charset="0"/>
              </a:rPr>
              <a:t> </a:t>
            </a:r>
            <a:r>
              <a:rPr lang="en-CA" sz="3200" b="1" dirty="0" smtClean="0">
                <a:solidFill>
                  <a:schemeClr val="accent1"/>
                </a:solidFill>
                <a:cs typeface="Times New Roman" panose="02020603050405020304" pitchFamily="18" charset="0"/>
              </a:rPr>
              <a:t>Description</a:t>
            </a:r>
            <a:endParaRPr lang="en-CA" sz="3200" b="1" dirty="0">
              <a:solidFill>
                <a:schemeClr val="accent1"/>
              </a:solidFill>
              <a:cs typeface="Times New Roman" panose="02020603050405020304" pitchFamily="18" charset="0"/>
            </a:endParaRPr>
          </a:p>
        </p:txBody>
      </p:sp>
      <p:cxnSp>
        <p:nvCxnSpPr>
          <p:cNvPr id="6" name="Straight Connector 5">
            <a:extLst>
              <a:ext uri="{FF2B5EF4-FFF2-40B4-BE49-F238E27FC236}">
                <a16:creationId xmlns:a16="http://schemas.microsoft.com/office/drawing/2014/main" xmlns="" id="{A4EEE84A-DA91-DB5A-49C2-A43FFBF34FC2}"/>
              </a:ext>
            </a:extLst>
          </p:cNvPr>
          <p:cNvCxnSpPr/>
          <p:nvPr/>
        </p:nvCxnSpPr>
        <p:spPr>
          <a:xfrm>
            <a:off x="2762250" y="1011995"/>
            <a:ext cx="6686550" cy="0"/>
          </a:xfrm>
          <a:prstGeom prst="line">
            <a:avLst/>
          </a:prstGeom>
          <a:ln>
            <a:solidFill>
              <a:schemeClr val="accent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xmlns="" val="7967829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xmlns="" id="{5D012490-15FE-CD4A-034B-D7E860496A6B}"/>
              </a:ext>
            </a:extLst>
          </p:cNvPr>
          <p:cNvCxnSpPr/>
          <p:nvPr/>
        </p:nvCxnSpPr>
        <p:spPr>
          <a:xfrm>
            <a:off x="1387186" y="1236518"/>
            <a:ext cx="92202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B64EE35-4F15-CE3A-8B9B-665D5658AA72}"/>
              </a:ext>
            </a:extLst>
          </p:cNvPr>
          <p:cNvSpPr txBox="1"/>
          <p:nvPr/>
        </p:nvSpPr>
        <p:spPr>
          <a:xfrm>
            <a:off x="602672" y="917864"/>
            <a:ext cx="11125200" cy="5170646"/>
          </a:xfrm>
          <a:prstGeom prst="rect">
            <a:avLst/>
          </a:prstGeom>
          <a:noFill/>
        </p:spPr>
        <p:txBody>
          <a:bodyPr wrap="square" rtlCol="0">
            <a:spAutoFit/>
          </a:bodyPr>
          <a:lstStyle/>
          <a:p>
            <a:pPr>
              <a:lnSpc>
                <a:spcPct val="200000"/>
              </a:lnSpc>
            </a:pPr>
            <a:endParaRPr lang="en-US" b="1" dirty="0" smtClean="0"/>
          </a:p>
          <a:p>
            <a:pPr>
              <a:lnSpc>
                <a:spcPct val="200000"/>
              </a:lnSpc>
            </a:pPr>
            <a:r>
              <a:rPr lang="en-US" sz="2400" b="1" dirty="0" smtClean="0"/>
              <a:t>Hardware Requirements :</a:t>
            </a:r>
            <a:endParaRPr lang="en-US" sz="2400" b="1" dirty="0" smtClean="0"/>
          </a:p>
          <a:p>
            <a:pPr>
              <a:lnSpc>
                <a:spcPct val="200000"/>
              </a:lnSpc>
            </a:pPr>
            <a:r>
              <a:rPr lang="en-US" b="1" dirty="0" smtClean="0"/>
              <a:t>Devices </a:t>
            </a:r>
            <a:r>
              <a:rPr lang="en-US" dirty="0" smtClean="0"/>
              <a:t>: </a:t>
            </a:r>
            <a:r>
              <a:rPr lang="en-US" dirty="0" smtClean="0"/>
              <a:t>Compatible with laptops, desktops, tablets, and </a:t>
            </a:r>
            <a:r>
              <a:rPr lang="en-US" dirty="0" err="1" smtClean="0"/>
              <a:t>smartphones</a:t>
            </a:r>
            <a:r>
              <a:rPr lang="en-US" dirty="0" smtClean="0"/>
              <a:t>.</a:t>
            </a:r>
          </a:p>
          <a:p>
            <a:pPr>
              <a:lnSpc>
                <a:spcPct val="200000"/>
              </a:lnSpc>
            </a:pPr>
            <a:r>
              <a:rPr lang="en-US" b="1" dirty="0" smtClean="0"/>
              <a:t>Internet </a:t>
            </a:r>
            <a:r>
              <a:rPr lang="en-US" b="1" dirty="0" smtClean="0"/>
              <a:t>Connection </a:t>
            </a:r>
            <a:r>
              <a:rPr lang="en-US" dirty="0" smtClean="0"/>
              <a:t>: </a:t>
            </a:r>
            <a:r>
              <a:rPr lang="en-US" dirty="0" smtClean="0"/>
              <a:t>Requires a stable internet connection for optimal performance.</a:t>
            </a:r>
          </a:p>
          <a:p>
            <a:pPr>
              <a:lnSpc>
                <a:spcPct val="200000"/>
              </a:lnSpc>
            </a:pPr>
            <a:r>
              <a:rPr lang="en-US" sz="2400" b="1" dirty="0" smtClean="0"/>
              <a:t>Software </a:t>
            </a:r>
            <a:r>
              <a:rPr lang="en-US" sz="2400" b="1" dirty="0" smtClean="0"/>
              <a:t>Requirements :</a:t>
            </a:r>
            <a:endParaRPr lang="en-US" sz="2400" b="1" dirty="0" smtClean="0"/>
          </a:p>
          <a:p>
            <a:pPr>
              <a:lnSpc>
                <a:spcPct val="200000"/>
              </a:lnSpc>
            </a:pPr>
            <a:r>
              <a:rPr lang="en-US" b="1" dirty="0" smtClean="0"/>
              <a:t>Frontend </a:t>
            </a:r>
            <a:r>
              <a:rPr lang="en-US" b="1" dirty="0" smtClean="0"/>
              <a:t>Technologies </a:t>
            </a:r>
            <a:r>
              <a:rPr lang="en-US" dirty="0" smtClean="0"/>
              <a:t>: </a:t>
            </a:r>
            <a:r>
              <a:rPr lang="en-US" dirty="0" smtClean="0"/>
              <a:t>HTML, CSS, and JavaScript for building the website.</a:t>
            </a:r>
          </a:p>
          <a:p>
            <a:pPr>
              <a:lnSpc>
                <a:spcPct val="200000"/>
              </a:lnSpc>
            </a:pPr>
            <a:r>
              <a:rPr lang="en-US" b="1" dirty="0" smtClean="0"/>
              <a:t>Web </a:t>
            </a:r>
            <a:r>
              <a:rPr lang="en-US" b="1" dirty="0" smtClean="0"/>
              <a:t>Browser </a:t>
            </a:r>
            <a:r>
              <a:rPr lang="en-US" dirty="0" smtClean="0"/>
              <a:t>: </a:t>
            </a:r>
            <a:r>
              <a:rPr lang="en-US" dirty="0" smtClean="0"/>
              <a:t>Latest versions of Chrome, Firefox, Safari, or Edge for best compatibility.</a:t>
            </a:r>
          </a:p>
          <a:p>
            <a:pPr>
              <a:lnSpc>
                <a:spcPct val="200000"/>
              </a:lnSpc>
            </a:pPr>
            <a:r>
              <a:rPr lang="en-US" b="1" dirty="0" smtClean="0"/>
              <a:t>Hosting </a:t>
            </a:r>
            <a:r>
              <a:rPr lang="en-US" b="1" dirty="0" smtClean="0"/>
              <a:t>Platform </a:t>
            </a:r>
            <a:r>
              <a:rPr lang="en-US" dirty="0" smtClean="0"/>
              <a:t>: </a:t>
            </a:r>
            <a:r>
              <a:rPr lang="en-US" dirty="0" smtClean="0"/>
              <a:t>Hosted on </a:t>
            </a:r>
            <a:r>
              <a:rPr lang="en-US" dirty="0" err="1" smtClean="0"/>
              <a:t>InfinityFree</a:t>
            </a:r>
            <a:r>
              <a:rPr lang="en-US" dirty="0" smtClean="0"/>
              <a:t> for online accessibility.</a:t>
            </a:r>
          </a:p>
          <a:p>
            <a:endParaRPr lang="en-CA" dirty="0"/>
          </a:p>
        </p:txBody>
      </p:sp>
      <p:sp>
        <p:nvSpPr>
          <p:cNvPr id="5" name="TextBox 4">
            <a:extLst>
              <a:ext uri="{FF2B5EF4-FFF2-40B4-BE49-F238E27FC236}">
                <a16:creationId xmlns:a16="http://schemas.microsoft.com/office/drawing/2014/main" xmlns="" id="{709D0BD2-DE35-BBBA-CC07-EA5C99BBE7A9}"/>
              </a:ext>
            </a:extLst>
          </p:cNvPr>
          <p:cNvSpPr txBox="1"/>
          <p:nvPr/>
        </p:nvSpPr>
        <p:spPr>
          <a:xfrm>
            <a:off x="2502477" y="181841"/>
            <a:ext cx="7472795" cy="892552"/>
          </a:xfrm>
          <a:prstGeom prst="rect">
            <a:avLst/>
          </a:prstGeom>
          <a:noFill/>
        </p:spPr>
        <p:txBody>
          <a:bodyPr wrap="square" rtlCol="0">
            <a:spAutoFit/>
          </a:bodyPr>
          <a:lstStyle/>
          <a:p>
            <a:endParaRPr lang="en-US" sz="2000" b="1" dirty="0" smtClean="0">
              <a:solidFill>
                <a:schemeClr val="accent1"/>
              </a:solidFill>
              <a:latin typeface="Times New Roman" panose="02020603050405020304" pitchFamily="18" charset="0"/>
              <a:cs typeface="Times New Roman" panose="02020603050405020304" pitchFamily="18" charset="0"/>
            </a:endParaRPr>
          </a:p>
          <a:p>
            <a:r>
              <a:rPr lang="en-US" sz="3200" b="1" dirty="0" smtClean="0">
                <a:solidFill>
                  <a:schemeClr val="accent1"/>
                </a:solidFill>
                <a:latin typeface="Times New Roman" panose="02020603050405020304" pitchFamily="18" charset="0"/>
                <a:cs typeface="Times New Roman" panose="02020603050405020304" pitchFamily="18" charset="0"/>
              </a:rPr>
              <a:t>Hardware and Software requirements </a:t>
            </a:r>
            <a:endParaRPr lang="en-CA" sz="32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981369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xmlns="" id="{5D012490-15FE-CD4A-034B-D7E860496A6B}"/>
              </a:ext>
            </a:extLst>
          </p:cNvPr>
          <p:cNvCxnSpPr/>
          <p:nvPr/>
        </p:nvCxnSpPr>
        <p:spPr>
          <a:xfrm>
            <a:off x="1387186" y="1236518"/>
            <a:ext cx="92202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B64EE35-4F15-CE3A-8B9B-665D5658AA72}"/>
              </a:ext>
            </a:extLst>
          </p:cNvPr>
          <p:cNvSpPr txBox="1"/>
          <p:nvPr/>
        </p:nvSpPr>
        <p:spPr>
          <a:xfrm>
            <a:off x="602672" y="917864"/>
            <a:ext cx="11125200" cy="923330"/>
          </a:xfrm>
          <a:prstGeom prst="rect">
            <a:avLst/>
          </a:prstGeom>
          <a:noFill/>
        </p:spPr>
        <p:txBody>
          <a:bodyPr wrap="square" rtlCol="0">
            <a:spAutoFit/>
          </a:bodyPr>
          <a:lstStyle/>
          <a:p>
            <a:pPr>
              <a:lnSpc>
                <a:spcPct val="200000"/>
              </a:lnSpc>
            </a:pPr>
            <a:endParaRPr lang="en-US" b="1" dirty="0" smtClean="0"/>
          </a:p>
          <a:p>
            <a:endParaRPr lang="en-CA" dirty="0"/>
          </a:p>
        </p:txBody>
      </p:sp>
      <p:sp>
        <p:nvSpPr>
          <p:cNvPr id="5" name="TextBox 4">
            <a:extLst>
              <a:ext uri="{FF2B5EF4-FFF2-40B4-BE49-F238E27FC236}">
                <a16:creationId xmlns:a16="http://schemas.microsoft.com/office/drawing/2014/main" xmlns="" id="{709D0BD2-DE35-BBBA-CC07-EA5C99BBE7A9}"/>
              </a:ext>
            </a:extLst>
          </p:cNvPr>
          <p:cNvSpPr txBox="1"/>
          <p:nvPr/>
        </p:nvSpPr>
        <p:spPr>
          <a:xfrm>
            <a:off x="2502477" y="181841"/>
            <a:ext cx="7472795" cy="892552"/>
          </a:xfrm>
          <a:prstGeom prst="rect">
            <a:avLst/>
          </a:prstGeom>
          <a:noFill/>
        </p:spPr>
        <p:txBody>
          <a:bodyPr wrap="square" rtlCol="0">
            <a:spAutoFit/>
          </a:bodyPr>
          <a:lstStyle/>
          <a:p>
            <a:endParaRPr lang="en-US" sz="2000" b="1" dirty="0" smtClean="0">
              <a:solidFill>
                <a:schemeClr val="accent1"/>
              </a:solidFill>
              <a:latin typeface="Times New Roman" panose="02020603050405020304" pitchFamily="18" charset="0"/>
              <a:cs typeface="Times New Roman" panose="02020603050405020304" pitchFamily="18" charset="0"/>
            </a:endParaRPr>
          </a:p>
          <a:p>
            <a:pPr algn="ctr"/>
            <a:r>
              <a:rPr lang="en-US" sz="3200" b="1" dirty="0" smtClean="0">
                <a:solidFill>
                  <a:schemeClr val="accent1"/>
                </a:solidFill>
                <a:cs typeface="Times New Roman" panose="02020603050405020304" pitchFamily="18" charset="0"/>
              </a:rPr>
              <a:t>Screenshots</a:t>
            </a:r>
            <a:r>
              <a:rPr lang="en-US" sz="3200" b="1" dirty="0" smtClean="0">
                <a:solidFill>
                  <a:schemeClr val="accent1"/>
                </a:solidFill>
                <a:latin typeface="Times New Roman" panose="02020603050405020304" pitchFamily="18" charset="0"/>
                <a:cs typeface="Times New Roman" panose="02020603050405020304" pitchFamily="18" charset="0"/>
              </a:rPr>
              <a:t> </a:t>
            </a:r>
            <a:endParaRPr lang="en-CA" sz="3200" b="1" dirty="0">
              <a:solidFill>
                <a:schemeClr val="accent1"/>
              </a:solidFill>
              <a:latin typeface="Times New Roman" panose="02020603050405020304" pitchFamily="18" charset="0"/>
              <a:cs typeface="Times New Roman" panose="02020603050405020304" pitchFamily="18" charset="0"/>
            </a:endParaRPr>
          </a:p>
        </p:txBody>
      </p:sp>
      <p:pic>
        <p:nvPicPr>
          <p:cNvPr id="6" name="Picture 5" descr="home.PNG"/>
          <p:cNvPicPr>
            <a:picLocks noChangeAspect="1"/>
          </p:cNvPicPr>
          <p:nvPr/>
        </p:nvPicPr>
        <p:blipFill>
          <a:blip r:embed="rId2"/>
          <a:stretch>
            <a:fillRect/>
          </a:stretch>
        </p:blipFill>
        <p:spPr>
          <a:xfrm>
            <a:off x="838201" y="2101637"/>
            <a:ext cx="5247814" cy="2946613"/>
          </a:xfrm>
          <a:prstGeom prst="rect">
            <a:avLst/>
          </a:prstGeom>
        </p:spPr>
      </p:pic>
      <p:pic>
        <p:nvPicPr>
          <p:cNvPr id="7" name="Picture 6" descr="Capture.PNG"/>
          <p:cNvPicPr>
            <a:picLocks noChangeAspect="1"/>
          </p:cNvPicPr>
          <p:nvPr/>
        </p:nvPicPr>
        <p:blipFill>
          <a:blip r:embed="rId3"/>
          <a:stretch>
            <a:fillRect/>
          </a:stretch>
        </p:blipFill>
        <p:spPr>
          <a:xfrm>
            <a:off x="6610350" y="2087691"/>
            <a:ext cx="5238750" cy="2945359"/>
          </a:xfrm>
          <a:prstGeom prst="rect">
            <a:avLst/>
          </a:prstGeom>
        </p:spPr>
      </p:pic>
    </p:spTree>
    <p:extLst>
      <p:ext uri="{BB962C8B-B14F-4D97-AF65-F5344CB8AC3E}">
        <p14:creationId xmlns:p14="http://schemas.microsoft.com/office/powerpoint/2010/main" xmlns="" val="1598136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udent review.PNG"/>
          <p:cNvPicPr>
            <a:picLocks noChangeAspect="1"/>
          </p:cNvPicPr>
          <p:nvPr/>
        </p:nvPicPr>
        <p:blipFill>
          <a:blip r:embed="rId2"/>
          <a:stretch>
            <a:fillRect/>
          </a:stretch>
        </p:blipFill>
        <p:spPr>
          <a:xfrm>
            <a:off x="647701" y="1549187"/>
            <a:ext cx="5146033" cy="2889463"/>
          </a:xfrm>
          <a:prstGeom prst="rect">
            <a:avLst/>
          </a:prstGeom>
        </p:spPr>
      </p:pic>
      <p:pic>
        <p:nvPicPr>
          <p:cNvPr id="3" name="Picture 2" descr="contact.PNG"/>
          <p:cNvPicPr>
            <a:picLocks noChangeAspect="1"/>
          </p:cNvPicPr>
          <p:nvPr/>
        </p:nvPicPr>
        <p:blipFill>
          <a:blip r:embed="rId3"/>
          <a:stretch>
            <a:fillRect/>
          </a:stretch>
        </p:blipFill>
        <p:spPr>
          <a:xfrm>
            <a:off x="6305550" y="1563773"/>
            <a:ext cx="5067300" cy="284896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xmlns="" id="{5D012490-15FE-CD4A-034B-D7E860496A6B}"/>
              </a:ext>
            </a:extLst>
          </p:cNvPr>
          <p:cNvCxnSpPr/>
          <p:nvPr/>
        </p:nvCxnSpPr>
        <p:spPr>
          <a:xfrm>
            <a:off x="2467841" y="1444336"/>
            <a:ext cx="7742960" cy="10391"/>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B64EE35-4F15-CE3A-8B9B-665D5658AA72}"/>
              </a:ext>
            </a:extLst>
          </p:cNvPr>
          <p:cNvSpPr txBox="1"/>
          <p:nvPr/>
        </p:nvSpPr>
        <p:spPr>
          <a:xfrm>
            <a:off x="699654" y="1430483"/>
            <a:ext cx="11125200" cy="3831818"/>
          </a:xfrm>
          <a:prstGeom prst="rect">
            <a:avLst/>
          </a:prstGeom>
          <a:noFill/>
        </p:spPr>
        <p:txBody>
          <a:bodyPr wrap="square" rtlCol="0">
            <a:spAutoFit/>
          </a:bodyPr>
          <a:lstStyle/>
          <a:p>
            <a:pPr>
              <a:lnSpc>
                <a:spcPct val="200000"/>
              </a:lnSpc>
            </a:pPr>
            <a:endParaRPr lang="en-US" b="1" dirty="0" smtClean="0"/>
          </a:p>
          <a:p>
            <a:pPr algn="just">
              <a:lnSpc>
                <a:spcPct val="150000"/>
              </a:lnSpc>
            </a:pPr>
            <a:r>
              <a:rPr lang="en-US" dirty="0" smtClean="0"/>
              <a:t>The College Review Website serves as an essential resource for students seeking comprehensive information about colleges, courses, and educational opportunities. By combining detailed college profiles, insightful blogs, and an easy-to-navigate design, the platform empowers users to make informed academic choices. The website's responsiveness ensures accessibility on various devices, making it a valuable tool for prospective students. Moving forward, future enhancements can further improve user engagement and content richness, such as integrating user reviews and expanding the course offerings. Overall, this project successfully addresses the needs of students in their educational journey.</a:t>
            </a:r>
            <a:endParaRPr lang="en-CA" dirty="0" smtClean="0"/>
          </a:p>
          <a:p>
            <a:endParaRPr lang="en-CA" dirty="0"/>
          </a:p>
        </p:txBody>
      </p:sp>
      <p:sp>
        <p:nvSpPr>
          <p:cNvPr id="5" name="TextBox 4">
            <a:extLst>
              <a:ext uri="{FF2B5EF4-FFF2-40B4-BE49-F238E27FC236}">
                <a16:creationId xmlns:a16="http://schemas.microsoft.com/office/drawing/2014/main" xmlns="" id="{709D0BD2-DE35-BBBA-CC07-EA5C99BBE7A9}"/>
              </a:ext>
            </a:extLst>
          </p:cNvPr>
          <p:cNvSpPr txBox="1"/>
          <p:nvPr/>
        </p:nvSpPr>
        <p:spPr>
          <a:xfrm>
            <a:off x="2502477" y="181841"/>
            <a:ext cx="7472795" cy="1077218"/>
          </a:xfrm>
          <a:prstGeom prst="rect">
            <a:avLst/>
          </a:prstGeom>
          <a:noFill/>
        </p:spPr>
        <p:txBody>
          <a:bodyPr wrap="square" rtlCol="0">
            <a:spAutoFit/>
          </a:bodyPr>
          <a:lstStyle/>
          <a:p>
            <a:pPr algn="ctr"/>
            <a:endParaRPr lang="en-CA" sz="3200" b="1" dirty="0" smtClean="0">
              <a:solidFill>
                <a:schemeClr val="accent1"/>
              </a:solidFill>
              <a:latin typeface="Times New Roman" panose="02020603050405020304" pitchFamily="18" charset="0"/>
              <a:cs typeface="Times New Roman" panose="02020603050405020304" pitchFamily="18" charset="0"/>
            </a:endParaRPr>
          </a:p>
          <a:p>
            <a:pPr algn="ctr"/>
            <a:r>
              <a:rPr lang="en-CA" sz="3200" b="1" dirty="0" smtClean="0">
                <a:solidFill>
                  <a:schemeClr val="accent1"/>
                </a:solidFill>
                <a:latin typeface="Times New Roman" panose="02020603050405020304" pitchFamily="18" charset="0"/>
                <a:cs typeface="Times New Roman" panose="02020603050405020304" pitchFamily="18" charset="0"/>
              </a:rPr>
              <a:t>Conclusion</a:t>
            </a:r>
            <a:endParaRPr lang="en-CA" sz="32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98136989"/>
      </p:ext>
    </p:extLst>
  </p:cSld>
  <p:clrMapOvr>
    <a:masterClrMapping/>
  </p:clrMapOvr>
  <p:timing>
    <p:tnLst>
      <p:par>
        <p:cTn id="1" dur="indefinite" restart="never" nodeType="tmRoot"/>
      </p:par>
    </p:tnLst>
  </p:timing>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2.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Aspect</Template>
  <TotalTime>119</TotalTime>
  <Words>672</Words>
  <Application>Microsoft Office PowerPoint</Application>
  <PresentationFormat>Custom</PresentationFormat>
  <Paragraphs>66</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1_RetrospectVTI</vt:lpstr>
      <vt:lpstr>COLLEGE REVIEW WEBSITE </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REVIEW WEBSITE</dc:title>
  <dc:creator>thenmozhi2006santhi@gmail.com</dc:creator>
  <cp:lastModifiedBy>ELCOT</cp:lastModifiedBy>
  <cp:revision>2</cp:revision>
  <dcterms:created xsi:type="dcterms:W3CDTF">2024-10-27T12:09:45Z</dcterms:created>
  <dcterms:modified xsi:type="dcterms:W3CDTF">2024-10-27T18:08:19Z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